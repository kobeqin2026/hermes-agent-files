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ight Triangle 1"/>
          <p:cNvSpPr/>
          <p:nvPr/>
        </p:nvSpPr>
        <p:spPr>
          <a:xfrm rot="2700000">
            <a:off x="0" y="0"/>
            <a:ext cx="1371600" cy="1371600"/>
          </a:xfrm>
          <a:prstGeom prst="rtTriangle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 rot="2700000">
            <a:off x="91440" y="91440"/>
            <a:ext cx="1188720" cy="1188720"/>
          </a:xfrm>
          <a:prstGeom prst="rect">
            <a:avLst/>
          </a:prstGeom>
          <a:noFill/>
          <a:ln w="19050">
            <a:solidFill>
              <a:srgbClr val="06B6D4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ight Triangle 3"/>
          <p:cNvSpPr/>
          <p:nvPr/>
        </p:nvSpPr>
        <p:spPr>
          <a:xfrm rot="18900000">
            <a:off x="7772400" y="0"/>
            <a:ext cx="1371600" cy="1371600"/>
          </a:xfrm>
          <a:prstGeom prst="rtTriangle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18900000">
            <a:off x="7863840" y="91440"/>
            <a:ext cx="1188720" cy="1188720"/>
          </a:xfrm>
          <a:prstGeom prst="rect">
            <a:avLst/>
          </a:prstGeom>
          <a:noFill/>
          <a:ln w="19050">
            <a:solidFill>
              <a:srgbClr val="06B6D4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ight Triangle 5"/>
          <p:cNvSpPr/>
          <p:nvPr/>
        </p:nvSpPr>
        <p:spPr>
          <a:xfrm rot="18900000">
            <a:off x="0" y="5486400"/>
            <a:ext cx="1371600" cy="1371600"/>
          </a:xfrm>
          <a:prstGeom prst="rtTriangle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18900000">
            <a:off x="91440" y="5577840"/>
            <a:ext cx="1188720" cy="1188720"/>
          </a:xfrm>
          <a:prstGeom prst="rect">
            <a:avLst/>
          </a:prstGeom>
          <a:noFill/>
          <a:ln w="19050">
            <a:solidFill>
              <a:srgbClr val="06B6D4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ight Triangle 7"/>
          <p:cNvSpPr/>
          <p:nvPr/>
        </p:nvSpPr>
        <p:spPr>
          <a:xfrm rot="2700000">
            <a:off x="7772400" y="5486400"/>
            <a:ext cx="1371600" cy="1371600"/>
          </a:xfrm>
          <a:prstGeom prst="rtTriangle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7863840" y="5577840"/>
            <a:ext cx="1188720" cy="1188720"/>
          </a:xfrm>
          <a:prstGeom prst="rect">
            <a:avLst/>
          </a:prstGeom>
          <a:noFill/>
          <a:ln w="19050">
            <a:solidFill>
              <a:srgbClr val="06B6D4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274320"/>
            <a:ext cx="9144000" cy="13716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1371600"/>
            <a:ext cx="9144000" cy="13716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0" y="2468880"/>
            <a:ext cx="9144000" cy="13716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0" y="3566160"/>
            <a:ext cx="9144000" cy="13716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0" y="4663440"/>
            <a:ext cx="9144000" cy="13716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0" y="5760720"/>
            <a:ext cx="9144000" cy="13716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0" y="6583680"/>
            <a:ext cx="9144000" cy="13716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57200" y="0"/>
            <a:ext cx="13716" cy="685800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1828800" y="0"/>
            <a:ext cx="13716" cy="685800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200400" y="0"/>
            <a:ext cx="13716" cy="685800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572000" y="0"/>
            <a:ext cx="13716" cy="685800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943600" y="0"/>
            <a:ext cx="13716" cy="685800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315200" y="0"/>
            <a:ext cx="13716" cy="685800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686800" y="0"/>
            <a:ext cx="13716" cy="685800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5646274" y="532701"/>
            <a:ext cx="146304" cy="146304"/>
          </a:xfrm>
          <a:prstGeom prst="ellipse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2647429" y="1710723"/>
            <a:ext cx="146304" cy="146304"/>
          </a:xfrm>
          <a:prstGeom prst="ellipse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6444911" y="4406079"/>
            <a:ext cx="146304" cy="146304"/>
          </a:xfrm>
          <a:prstGeom prst="ellipse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7726328" y="900777"/>
            <a:ext cx="146304" cy="146304"/>
          </a:xfrm>
          <a:prstGeom prst="ellipse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3856295" y="561150"/>
            <a:ext cx="146304" cy="146304"/>
          </a:xfrm>
          <a:prstGeom prst="ellipse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2183351" y="3387677"/>
            <a:ext cx="146304" cy="146304"/>
          </a:xfrm>
          <a:prstGeom prst="ellipse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602428" y="1565859"/>
            <a:ext cx="146304" cy="146304"/>
          </a:xfrm>
          <a:prstGeom prst="ellipse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5732336" y="3622962"/>
            <a:ext cx="146304" cy="146304"/>
          </a:xfrm>
          <a:prstGeom prst="ellipse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2198186" y="3886407"/>
            <a:ext cx="146304" cy="146304"/>
          </a:xfrm>
          <a:prstGeom prst="ellipse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7045336" y="422674"/>
            <a:ext cx="146304" cy="146304"/>
          </a:xfrm>
          <a:prstGeom prst="ellipse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7015618" y="4533509"/>
            <a:ext cx="146304" cy="146304"/>
          </a:xfrm>
          <a:prstGeom prst="ellipse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3184173" y="1308155"/>
            <a:ext cx="146304" cy="146304"/>
          </a:xfrm>
          <a:prstGeom prst="ellipse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8261528" y="2384631"/>
            <a:ext cx="146304" cy="146304"/>
          </a:xfrm>
          <a:prstGeom prst="ellipse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1147309" y="958891"/>
            <a:ext cx="146304" cy="146304"/>
          </a:xfrm>
          <a:prstGeom prst="ellipse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7358587" y="3972354"/>
            <a:ext cx="146304" cy="146304"/>
          </a:xfrm>
          <a:prstGeom prst="ellipse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1280160" y="137159"/>
            <a:ext cx="6583680" cy="6583680"/>
          </a:xfrm>
          <a:prstGeom prst="ellipse">
            <a:avLst/>
          </a:prstGeom>
          <a:noFill/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2103120" y="960119"/>
            <a:ext cx="4937760" cy="4937760"/>
          </a:xfrm>
          <a:prstGeom prst="ellipse">
            <a:avLst/>
          </a:prstGeom>
          <a:noFill/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2926080" y="1783080"/>
            <a:ext cx="3291840" cy="3291840"/>
          </a:xfrm>
          <a:prstGeom prst="ellipse">
            <a:avLst/>
          </a:prstGeom>
          <a:noFill/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3749039" y="2606040"/>
            <a:ext cx="1645920" cy="1645920"/>
          </a:xfrm>
          <a:prstGeom prst="ellipse">
            <a:avLst/>
          </a:prstGeom>
          <a:noFill/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57200" y="2560320"/>
            <a:ext cx="8229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400" b="1">
                <a:solidFill>
                  <a:srgbClr val="3B82F6"/>
                </a:solidFill>
              </a:defRPr>
            </a:pPr>
            <a:r>
              <a:t>Hermes Agent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57200" y="39319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600">
                <a:solidFill>
                  <a:srgbClr val="06B6D4"/>
                </a:solidFill>
              </a:defRPr>
            </a:pPr>
            <a:r>
              <a:t>智能 AI 助手 · 由 Nous Research 创建</a:t>
            </a:r>
          </a:p>
        </p:txBody>
      </p:sp>
      <p:sp>
        <p:nvSpPr>
          <p:cNvPr id="45" name="Rectangle 44"/>
          <p:cNvSpPr/>
          <p:nvPr/>
        </p:nvSpPr>
        <p:spPr>
          <a:xfrm>
            <a:off x="2743200" y="5029200"/>
            <a:ext cx="3657600" cy="73152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ight Triangle 1"/>
          <p:cNvSpPr/>
          <p:nvPr/>
        </p:nvSpPr>
        <p:spPr>
          <a:xfrm rot="2700000">
            <a:off x="0" y="0"/>
            <a:ext cx="1371600" cy="1371600"/>
          </a:xfrm>
          <a:prstGeom prst="rtTriangle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 rot="2700000">
            <a:off x="91440" y="91440"/>
            <a:ext cx="1188720" cy="1188720"/>
          </a:xfrm>
          <a:prstGeom prst="rect">
            <a:avLst/>
          </a:prstGeom>
          <a:noFill/>
          <a:ln w="19050">
            <a:solidFill>
              <a:srgbClr val="06B6D4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503920" y="6583680"/>
            <a:ext cx="3657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8B5CF6"/>
                </a:solidFill>
              </a:defRPr>
            </a:pPr>
            <a: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74320"/>
            <a:ext cx="6400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800" b="1">
                <a:solidFill>
                  <a:srgbClr val="06B6D4"/>
                </a:solidFill>
              </a:defRPr>
            </a:pPr>
            <a:r>
              <a:t>核心数据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960120"/>
            <a:ext cx="2286000" cy="54864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57200" y="1371600"/>
            <a:ext cx="2560320" cy="2286000"/>
          </a:xfrm>
          <a:prstGeom prst="roundRect">
            <a:avLst/>
          </a:prstGeom>
          <a:solidFill>
            <a:srgbClr val="1E293B"/>
          </a:solidFill>
          <a:ln w="254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1371600"/>
            <a:ext cx="2560320" cy="109728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1691640"/>
            <a:ext cx="7315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/>
            </a:pPr>
            <a:r>
              <a:t>📚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63040" y="1645920"/>
            <a:ext cx="1371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3B82F6"/>
                </a:solidFill>
              </a:defRPr>
            </a:pPr>
            <a:r>
              <a:t>76+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3040" y="224028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C8C8DC"/>
                </a:solidFill>
              </a:defRPr>
            </a:pPr>
            <a:r>
              <a:t>专业技能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337560" y="1371600"/>
            <a:ext cx="2560320" cy="2286000"/>
          </a:xfrm>
          <a:prstGeom prst="roundRect">
            <a:avLst/>
          </a:prstGeom>
          <a:solidFill>
            <a:srgbClr val="1E293B"/>
          </a:solidFill>
          <a:ln w="254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337560" y="1371600"/>
            <a:ext cx="2560320" cy="109728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611879" y="1691640"/>
            <a:ext cx="7315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/>
            </a:pPr>
            <a:r>
              <a:t>🎯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43400" y="1645920"/>
            <a:ext cx="1371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6B6D4"/>
                </a:solidFill>
              </a:defRPr>
            </a:pPr>
            <a:r>
              <a:t>20+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43400" y="224028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C8C8DC"/>
                </a:solidFill>
              </a:defRPr>
            </a:pPr>
            <a:r>
              <a:t>领域覆盖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17920" y="1371600"/>
            <a:ext cx="2560320" cy="2286000"/>
          </a:xfrm>
          <a:prstGeom prst="roundRect">
            <a:avLst/>
          </a:prstGeom>
          <a:solidFill>
            <a:srgbClr val="1E293B"/>
          </a:solidFill>
          <a:ln w="2540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17920" y="1371600"/>
            <a:ext cx="2560320" cy="109728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92240" y="1691640"/>
            <a:ext cx="7315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/>
            </a:pPr>
            <a:r>
              <a:t>🛠️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223760" y="1645920"/>
            <a:ext cx="1371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8B5CF6"/>
                </a:solidFill>
              </a:defRPr>
            </a:pPr>
            <a:r>
              <a:t>20+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223760" y="224028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C8C8DC"/>
                </a:solidFill>
              </a:defRPr>
            </a:pPr>
            <a:r>
              <a:t>内置工具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57200" y="3977639"/>
            <a:ext cx="2560320" cy="2286000"/>
          </a:xfrm>
          <a:prstGeom prst="roundRect">
            <a:avLst/>
          </a:prstGeom>
          <a:solidFill>
            <a:srgbClr val="1E293B"/>
          </a:solidFill>
          <a:ln w="2540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57200" y="3977639"/>
            <a:ext cx="2560320" cy="109728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31520" y="4297679"/>
            <a:ext cx="7315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/>
            </a:pPr>
            <a:r>
              <a:t>🚀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463040" y="4251959"/>
            <a:ext cx="1371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2C55E"/>
                </a:solidFill>
              </a:defRPr>
            </a:pPr>
            <a:r>
              <a:t>10x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463040" y="484632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C8C8DC"/>
                </a:solidFill>
              </a:defRPr>
            </a:pPr>
            <a:r>
              <a:t>效率提升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3337560" y="3977639"/>
            <a:ext cx="2560320" cy="2286000"/>
          </a:xfrm>
          <a:prstGeom prst="roundRect">
            <a:avLst/>
          </a:prstGeom>
          <a:solidFill>
            <a:srgbClr val="1E293B"/>
          </a:solidFill>
          <a:ln w="25400"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3337560" y="3977639"/>
            <a:ext cx="2560320" cy="109728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611879" y="4297679"/>
            <a:ext cx="7315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/>
            </a:pPr>
            <a:r>
              <a:t>💡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343400" y="4251959"/>
            <a:ext cx="1371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97316"/>
                </a:solidFill>
              </a:defRPr>
            </a:pPr>
            <a:r>
              <a:t>24/7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343400" y="484632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C8C8DC"/>
                </a:solidFill>
              </a:defRPr>
            </a:pPr>
            <a:r>
              <a:t>全天候服务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217920" y="3977639"/>
            <a:ext cx="2560320" cy="2286000"/>
          </a:xfrm>
          <a:prstGeom prst="roundRect">
            <a:avLst/>
          </a:prstGeom>
          <a:solidFill>
            <a:srgbClr val="1E293B"/>
          </a:solidFill>
          <a:ln w="25400">
            <a:solidFill>
              <a:srgbClr val="EC48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217920" y="3977639"/>
            <a:ext cx="2560320" cy="109728"/>
          </a:xfrm>
          <a:prstGeom prst="rect">
            <a:avLst/>
          </a:prstGeom>
          <a:solidFill>
            <a:srgbClr val="EC4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492240" y="4297679"/>
            <a:ext cx="7315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/>
            </a:pPr>
            <a:r>
              <a:t>🔗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223760" y="4251959"/>
            <a:ext cx="1371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EC4899"/>
                </a:solidFill>
              </a:defRPr>
            </a:pPr>
            <a:r>
              <a:t>∞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223760" y="484632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C8C8DC"/>
                </a:solidFill>
              </a:defRPr>
            </a:pPr>
            <a:r>
              <a:t>可扩展性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ight Triangle 1"/>
          <p:cNvSpPr/>
          <p:nvPr/>
        </p:nvSpPr>
        <p:spPr>
          <a:xfrm rot="2700000">
            <a:off x="0" y="0"/>
            <a:ext cx="1371600" cy="1371600"/>
          </a:xfrm>
          <a:prstGeom prst="rtTriangle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 rot="2700000">
            <a:off x="91440" y="91440"/>
            <a:ext cx="1188720" cy="1188720"/>
          </a:xfrm>
          <a:prstGeom prst="rect">
            <a:avLst/>
          </a:prstGeom>
          <a:noFill/>
          <a:ln w="19050">
            <a:solidFill>
              <a:srgbClr val="06B6D4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503920" y="6583680"/>
            <a:ext cx="3657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8B5CF6"/>
                </a:solidFill>
              </a:defRPr>
            </a:pPr>
            <a: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74320"/>
            <a:ext cx="6400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800" b="1">
                <a:solidFill>
                  <a:srgbClr val="06B6D4"/>
                </a:solidFill>
              </a:defRPr>
            </a:pPr>
            <a:r>
              <a:t>为什么选择 Hermes?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960120"/>
            <a:ext cx="2286000" cy="54864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4160520" y="320040"/>
            <a:ext cx="822960" cy="822960"/>
          </a:xfrm>
          <a:prstGeom prst="ellipse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VS</a:t>
            </a:r>
          </a:p>
        </p:txBody>
      </p:sp>
      <p:sp>
        <p:nvSpPr>
          <p:cNvPr id="8" name="Rectangle 7"/>
          <p:cNvSpPr/>
          <p:nvPr/>
        </p:nvSpPr>
        <p:spPr>
          <a:xfrm>
            <a:off x="4526280" y="1188720"/>
            <a:ext cx="91440" cy="502920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1234440"/>
            <a:ext cx="3931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3B82F6"/>
                </a:solidFill>
              </a:defRPr>
            </a:pPr>
            <a:r>
              <a:t>Hermes Agent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0" y="1234440"/>
            <a:ext cx="3931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C8C8DC"/>
                </a:solidFill>
              </a:defRPr>
            </a:pPr>
            <a:r>
              <a:t>传统 AI 助手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1828800"/>
            <a:ext cx="3749039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400">
                <a:solidFill>
                  <a:srgbClr val="FFFFFF"/>
                </a:solidFill>
              </a:defRPr>
            </a:pPr>
            <a:r>
              <a:t>✅ 76+ 专业技能覆盖全领域</a:t>
            </a:r>
          </a:p>
          <a:p>
            <a:pPr>
              <a:spcAft>
                <a:spcPts val="1200"/>
              </a:spcAft>
              <a:defRPr sz="1400">
                <a:solidFill>
                  <a:srgbClr val="FFFFFF"/>
                </a:solidFill>
              </a:defRPr>
            </a:pPr>
            <a:r>
              <a:t>✅ 20+ 内置工具直接调用</a:t>
            </a:r>
          </a:p>
          <a:p>
            <a:pPr>
              <a:spcAft>
                <a:spcPts val="1200"/>
              </a:spcAft>
              <a:defRPr sz="1400">
                <a:solidFill>
                  <a:srgbClr val="FFFFFF"/>
                </a:solidFill>
              </a:defRPr>
            </a:pPr>
            <a:r>
              <a:t>✅ 支持代码执行、文件操作、Web 浏览</a:t>
            </a:r>
          </a:p>
          <a:p>
            <a:pPr>
              <a:spcAft>
                <a:spcPts val="1200"/>
              </a:spcAft>
              <a:defRPr sz="1400">
                <a:solidFill>
                  <a:srgbClr val="FFFFFF"/>
                </a:solidFill>
              </a:defRPr>
            </a:pPr>
            <a:r>
              <a:t>✅ 记忆系统 + 技能系统持久化</a:t>
            </a:r>
          </a:p>
          <a:p>
            <a:pPr>
              <a:spcAft>
                <a:spcPts val="1200"/>
              </a:spcAft>
              <a:defRPr sz="1400">
                <a:solidFill>
                  <a:srgbClr val="FFFFFF"/>
                </a:solidFill>
              </a:defRPr>
            </a:pPr>
            <a:r>
              <a:t>✅ 支持多 Agent 协作</a:t>
            </a:r>
          </a:p>
          <a:p>
            <a:pPr>
              <a:spcAft>
                <a:spcPts val="1200"/>
              </a:spcAft>
              <a:defRPr sz="1400">
                <a:solidFill>
                  <a:srgbClr val="FFFFFF"/>
                </a:solidFill>
              </a:defRPr>
            </a:pPr>
            <a:r>
              <a:t>✅ 飞书/ Discord 多平台集成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46320" y="1828800"/>
            <a:ext cx="3749039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400">
                <a:solidFill>
                  <a:srgbClr val="C8C8DC"/>
                </a:solidFill>
              </a:defRPr>
            </a:pPr>
            <a:r>
              <a:t>⚪ 有限的预定义功能</a:t>
            </a:r>
          </a:p>
          <a:p>
            <a:pPr>
              <a:spcAft>
                <a:spcPts val="1200"/>
              </a:spcAft>
              <a:defRPr sz="1400">
                <a:solidFill>
                  <a:srgbClr val="C8C8DC"/>
                </a:solidFill>
              </a:defRPr>
            </a:pPr>
            <a:r>
              <a:t>⚪ 需要外部工具集成</a:t>
            </a:r>
          </a:p>
          <a:p>
            <a:pPr>
              <a:spcAft>
                <a:spcPts val="1200"/>
              </a:spcAft>
              <a:defRPr sz="1400">
                <a:solidFill>
                  <a:srgbClr val="C8C8DC"/>
                </a:solidFill>
              </a:defRPr>
            </a:pPr>
            <a:r>
              <a:t>⚪ 功能相对单一</a:t>
            </a:r>
          </a:p>
          <a:p>
            <a:pPr>
              <a:spcAft>
                <a:spcPts val="1200"/>
              </a:spcAft>
              <a:defRPr sz="1400">
                <a:solidFill>
                  <a:srgbClr val="C8C8DC"/>
                </a:solidFill>
              </a:defRPr>
            </a:pPr>
            <a:r>
              <a:t>⚪ 会话间无记忆</a:t>
            </a:r>
          </a:p>
          <a:p>
            <a:pPr>
              <a:spcAft>
                <a:spcPts val="1200"/>
              </a:spcAft>
              <a:defRPr sz="1400">
                <a:solidFill>
                  <a:srgbClr val="C8C8DC"/>
                </a:solidFill>
              </a:defRPr>
            </a:pPr>
            <a:r>
              <a:t>⚪ 单 Agent 工作</a:t>
            </a:r>
          </a:p>
          <a:p>
            <a:pPr>
              <a:spcAft>
                <a:spcPts val="1200"/>
              </a:spcAft>
              <a:defRPr sz="1400">
                <a:solidFill>
                  <a:srgbClr val="C8C8DC"/>
                </a:solidFill>
              </a:defRPr>
            </a:pPr>
            <a:r>
              <a:t>⚪ 平台支持有限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ight Triangle 1"/>
          <p:cNvSpPr/>
          <p:nvPr/>
        </p:nvSpPr>
        <p:spPr>
          <a:xfrm rot="2700000">
            <a:off x="0" y="0"/>
            <a:ext cx="1371600" cy="1371600"/>
          </a:xfrm>
          <a:prstGeom prst="rtTriangle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 rot="2700000">
            <a:off x="91440" y="91440"/>
            <a:ext cx="1188720" cy="1188720"/>
          </a:xfrm>
          <a:prstGeom prst="rect">
            <a:avLst/>
          </a:prstGeom>
          <a:noFill/>
          <a:ln w="19050">
            <a:solidFill>
              <a:srgbClr val="06B6D4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503920" y="6583680"/>
            <a:ext cx="3657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8B5CF6"/>
                </a:solidFill>
              </a:defRPr>
            </a:pPr>
            <a: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74320"/>
            <a:ext cx="6400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800" b="1">
                <a:solidFill>
                  <a:srgbClr val="06B6D4"/>
                </a:solidFill>
              </a:defRPr>
            </a:pPr>
            <a:r>
              <a:t>核心能力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960120"/>
            <a:ext cx="2286000" cy="54864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57200" y="1280160"/>
            <a:ext cx="3931920" cy="25603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1280160"/>
            <a:ext cx="3931920" cy="9144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777240" y="1554480"/>
            <a:ext cx="822960" cy="822960"/>
          </a:xfrm>
          <a:prstGeom prst="ellipse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1691639"/>
            <a:ext cx="5486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/>
            </a:pPr>
            <a:r>
              <a:t>💻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37360" y="1600200"/>
            <a:ext cx="24688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FFFFF"/>
                </a:solidFill>
              </a:defRPr>
            </a:pPr>
            <a:r>
              <a:t>代码开发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737360" y="2057400"/>
            <a:ext cx="246888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C8C8DC"/>
                </a:solidFill>
              </a:defRPr>
            </a:pPr>
            <a:r>
              <a:t>编写、调试、重构代码，支持多语言和项目结构管理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709159" y="1280160"/>
            <a:ext cx="3931920" cy="25603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709159" y="1280160"/>
            <a:ext cx="3931920" cy="9144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5029199" y="1554480"/>
            <a:ext cx="822960" cy="822960"/>
          </a:xfrm>
          <a:prstGeom prst="ellipse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166359" y="1691639"/>
            <a:ext cx="5486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/>
            </a:pPr>
            <a:r>
              <a:t>🔍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89319" y="1600200"/>
            <a:ext cx="24688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FFFFF"/>
                </a:solidFill>
              </a:defRPr>
            </a:pPr>
            <a:r>
              <a:t>信息检索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89319" y="2057400"/>
            <a:ext cx="246888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C8C8DC"/>
                </a:solidFill>
              </a:defRPr>
            </a:pPr>
            <a:r>
              <a:t>搜索文件内容、查找代码、分析项目结构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57200" y="4160520"/>
            <a:ext cx="3931920" cy="25603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57200" y="4160520"/>
            <a:ext cx="3931920" cy="9144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777240" y="4434840"/>
            <a:ext cx="822960" cy="822960"/>
          </a:xfrm>
          <a:prstGeom prst="ellipse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14400" y="4572000"/>
            <a:ext cx="5486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/>
            </a:pPr>
            <a:r>
              <a:t>🌐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737360" y="4480559"/>
            <a:ext cx="24688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FFFFF"/>
                </a:solidFill>
              </a:defRPr>
            </a:pPr>
            <a:r>
              <a:t>Web 操作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737360" y="4937759"/>
            <a:ext cx="246888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C8C8DC"/>
                </a:solidFill>
              </a:defRPr>
            </a:pPr>
            <a:r>
              <a:t>浏览网页、抓取数据、自动化 Web 任务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709159" y="4160520"/>
            <a:ext cx="3931920" cy="25603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709159" y="4160520"/>
            <a:ext cx="3931920" cy="9144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5029199" y="4434840"/>
            <a:ext cx="822960" cy="822960"/>
          </a:xfrm>
          <a:prstGeom prst="ellipse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166359" y="4572000"/>
            <a:ext cx="5486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/>
            </a:pPr>
            <a:r>
              <a:t>📁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989319" y="4480559"/>
            <a:ext cx="24688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FFFFF"/>
                </a:solidFill>
              </a:defRPr>
            </a:pPr>
            <a:r>
              <a:t>文件管理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989319" y="4937759"/>
            <a:ext cx="246888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C8C8DC"/>
                </a:solidFill>
              </a:defRPr>
            </a:pPr>
            <a:r>
              <a:t>读写文件、创建目录、批量处理、格式转换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57200" y="7040879"/>
            <a:ext cx="3931920" cy="25603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457200" y="7040879"/>
            <a:ext cx="3931920" cy="91440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777240" y="7315199"/>
            <a:ext cx="822960" cy="822960"/>
          </a:xfrm>
          <a:prstGeom prst="ellipse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14400" y="7452359"/>
            <a:ext cx="5486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/>
            </a:pPr>
            <a:r>
              <a:t>🤖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737360" y="7360919"/>
            <a:ext cx="24688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FFFFF"/>
                </a:solidFill>
              </a:defRPr>
            </a:pPr>
            <a:r>
              <a:t>Agent 协作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737360" y="7818119"/>
            <a:ext cx="246888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C8C8DC"/>
                </a:solidFill>
              </a:defRPr>
            </a:pPr>
            <a:r>
              <a:t> spawn 子 Agent、并行任务、结果聚合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4709159" y="7040879"/>
            <a:ext cx="3931920" cy="25603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EC48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4709159" y="7040879"/>
            <a:ext cx="3931920" cy="91440"/>
          </a:xfrm>
          <a:prstGeom prst="rect">
            <a:avLst/>
          </a:prstGeom>
          <a:solidFill>
            <a:srgbClr val="EC4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5029199" y="7315199"/>
            <a:ext cx="822960" cy="822960"/>
          </a:xfrm>
          <a:prstGeom prst="ellipse">
            <a:avLst/>
          </a:prstGeom>
          <a:solidFill>
            <a:srgbClr val="EC4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166359" y="7452359"/>
            <a:ext cx="5486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/>
            </a:pPr>
            <a:r>
              <a:t>📅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989319" y="7360919"/>
            <a:ext cx="24688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FFFFF"/>
                </a:solidFill>
              </a:defRPr>
            </a:pPr>
            <a:r>
              <a:t>定时任务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989319" y="7818119"/>
            <a:ext cx="246888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C8C8DC"/>
                </a:solidFill>
              </a:defRPr>
            </a:pPr>
            <a:r>
              <a:t>创建 cron 作业、定时执行、自动推送结果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ight Triangle 1"/>
          <p:cNvSpPr/>
          <p:nvPr/>
        </p:nvSpPr>
        <p:spPr>
          <a:xfrm rot="2700000">
            <a:off x="0" y="0"/>
            <a:ext cx="1371600" cy="1371600"/>
          </a:xfrm>
          <a:prstGeom prst="rtTriangle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 rot="2700000">
            <a:off x="91440" y="91440"/>
            <a:ext cx="1188720" cy="1188720"/>
          </a:xfrm>
          <a:prstGeom prst="rect">
            <a:avLst/>
          </a:prstGeom>
          <a:noFill/>
          <a:ln w="19050">
            <a:solidFill>
              <a:srgbClr val="06B6D4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503920" y="6583680"/>
            <a:ext cx="3657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8B5CF6"/>
                </a:solidFill>
              </a:defRPr>
            </a:pPr>
            <a: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74320"/>
            <a:ext cx="6400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800" b="1">
                <a:solidFill>
                  <a:srgbClr val="06B6D4"/>
                </a:solidFill>
              </a:defRPr>
            </a:pPr>
            <a:r>
              <a:t>系统架构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960120"/>
            <a:ext cx="2286000" cy="54864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3657600" y="2286000"/>
            <a:ext cx="1828800" cy="1828800"/>
          </a:xfrm>
          <a:prstGeom prst="ellipse">
            <a:avLst/>
          </a:prstGeom>
          <a:solidFill>
            <a:srgbClr val="3B82F6"/>
          </a:solidFill>
          <a:ln w="317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Hermes</a:t>
            </a:r>
          </a:p>
          <a:p>
            <a:r>
              <a:t>Agent</a:t>
            </a:r>
          </a:p>
        </p:txBody>
      </p:sp>
      <p:sp>
        <p:nvSpPr>
          <p:cNvPr id="8" name="Rectangle 7"/>
          <p:cNvSpPr/>
          <p:nvPr/>
        </p:nvSpPr>
        <p:spPr>
          <a:xfrm>
            <a:off x="1627632" y="1810512"/>
            <a:ext cx="2962656" cy="1408176"/>
          </a:xfrm>
          <a:prstGeom prst="rect">
            <a:avLst/>
          </a:prstGeom>
          <a:noFill/>
          <a:ln w="12700">
            <a:solidFill>
              <a:srgbClr val="3B82F6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53712" y="1810512"/>
            <a:ext cx="2962655" cy="1408176"/>
          </a:xfrm>
          <a:prstGeom prst="rect">
            <a:avLst/>
          </a:prstGeom>
          <a:noFill/>
          <a:ln w="12700">
            <a:solidFill>
              <a:srgbClr val="06B6D4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627632" y="3182112"/>
            <a:ext cx="2962656" cy="402335"/>
          </a:xfrm>
          <a:prstGeom prst="rect">
            <a:avLst/>
          </a:prstGeom>
          <a:noFill/>
          <a:ln w="12700">
            <a:solidFill>
              <a:srgbClr val="8B5CF6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53712" y="3182112"/>
            <a:ext cx="2962655" cy="402335"/>
          </a:xfrm>
          <a:prstGeom prst="rect">
            <a:avLst/>
          </a:prstGeom>
          <a:noFill/>
          <a:ln w="12700">
            <a:solidFill>
              <a:srgbClr val="22C55E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627632" y="3182112"/>
            <a:ext cx="2962656" cy="2139696"/>
          </a:xfrm>
          <a:prstGeom prst="rect">
            <a:avLst/>
          </a:prstGeom>
          <a:noFill/>
          <a:ln w="12700">
            <a:solidFill>
              <a:srgbClr val="F97316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553712" y="3182112"/>
            <a:ext cx="2962655" cy="2139696"/>
          </a:xfrm>
          <a:prstGeom prst="rect">
            <a:avLst/>
          </a:prstGeom>
          <a:noFill/>
          <a:ln w="12700">
            <a:solidFill>
              <a:srgbClr val="EC4899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274320" y="1463040"/>
            <a:ext cx="2743200" cy="7315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终端工具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26480" y="1463040"/>
            <a:ext cx="2743200" cy="7315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文件操作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74320" y="3200400"/>
            <a:ext cx="2743200" cy="7315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Web 浏览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26480" y="3200400"/>
            <a:ext cx="2743200" cy="7315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技能系统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74320" y="4937760"/>
            <a:ext cx="2743200" cy="7315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记忆系统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26480" y="4937760"/>
            <a:ext cx="2743200" cy="7315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EC48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定时任务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ight Triangle 1"/>
          <p:cNvSpPr/>
          <p:nvPr/>
        </p:nvSpPr>
        <p:spPr>
          <a:xfrm rot="2700000">
            <a:off x="0" y="0"/>
            <a:ext cx="1371600" cy="1371600"/>
          </a:xfrm>
          <a:prstGeom prst="rtTriangle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 rot="2700000">
            <a:off x="91440" y="91440"/>
            <a:ext cx="1188720" cy="1188720"/>
          </a:xfrm>
          <a:prstGeom prst="rect">
            <a:avLst/>
          </a:prstGeom>
          <a:noFill/>
          <a:ln w="19050">
            <a:solidFill>
              <a:srgbClr val="06B6D4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503920" y="6583680"/>
            <a:ext cx="3657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8B5CF6"/>
                </a:solidFill>
              </a:defRPr>
            </a:pPr>
            <a:r>
              <a:t>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74320"/>
            <a:ext cx="6400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800" b="1">
                <a:solidFill>
                  <a:srgbClr val="06B6D4"/>
                </a:solidFill>
              </a:defRPr>
            </a:pPr>
            <a:r>
              <a:t>76+ 专业技能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960120"/>
            <a:ext cx="2286000" cy="54864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37160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700">
                <a:solidFill>
                  <a:srgbClr val="FFFFFF"/>
                </a:solidFill>
              </a:defRPr>
            </a:pPr>
            <a:r>
              <a:t>🔹 🔧 **开发工具**: github-workflow, code-review, test-driven-development...</a:t>
            </a:r>
          </a:p>
          <a:p>
            <a:pPr>
              <a:spcAft>
                <a:spcPts val="1400"/>
              </a:spcAft>
              <a:defRPr sz="1700">
                <a:solidFill>
                  <a:srgbClr val="FFFFFF"/>
                </a:solidFill>
              </a:defRPr>
            </a:pPr>
            <a:r>
              <a:t>🔹 🤖 **AI/ML**: huggingface-hub, llm-evaluation, fine-tuning (Axolotl/Unsloth)...</a:t>
            </a:r>
          </a:p>
          <a:p>
            <a:pPr>
              <a:spcAft>
                <a:spcPts val="1400"/>
              </a:spcAft>
              <a:defRPr sz="1700">
                <a:solidFill>
                  <a:srgbClr val="FFFFFF"/>
                </a:solidFill>
              </a:defRPr>
            </a:pPr>
            <a:r>
              <a:t>🔹 📊 **数据科学**: jupyter-live-kernel, data-analysis, visualization...</a:t>
            </a:r>
          </a:p>
          <a:p>
            <a:pPr>
              <a:spcAft>
                <a:spcPts val="1400"/>
              </a:spcAft>
              <a:defRPr sz="1700">
                <a:solidFill>
                  <a:srgbClr val="FFFFFF"/>
                </a:solidFill>
              </a:defRPr>
            </a:pPr>
            <a:r>
              <a:t>🔹 🌐 **DevOps**: cloud-file-delivery, webhook-subscriptions, docker...</a:t>
            </a:r>
          </a:p>
          <a:p>
            <a:pPr>
              <a:spcAft>
                <a:spcPts val="1400"/>
              </a:spcAft>
              <a:defRPr sz="1700">
                <a:solidFill>
                  <a:srgbClr val="FFFFFF"/>
                </a:solidFill>
              </a:defRPr>
            </a:pPr>
            <a:r>
              <a:t>🔹 📱 **生产力**: feishu-drive, google-workspace, notion, powerpoint...</a:t>
            </a:r>
          </a:p>
          <a:p>
            <a:pPr>
              <a:spcAft>
                <a:spcPts val="1400"/>
              </a:spcAft>
              <a:defRPr sz="1700">
                <a:solidFill>
                  <a:srgbClr val="FFFFFF"/>
                </a:solidFill>
              </a:defRPr>
            </a:pPr>
            <a:r>
              <a:t>🔹 🎨 **创意**: ascii-art, ascii-video, excalidraw, songwriting...</a:t>
            </a:r>
          </a:p>
          <a:p>
            <a:pPr>
              <a:spcAft>
                <a:spcPts val="1400"/>
              </a:spcAft>
              <a:defRPr sz="1700">
                <a:solidFill>
                  <a:srgbClr val="FFFFFF"/>
                </a:solidFill>
              </a:defRPr>
            </a:pPr>
            <a:r>
              <a:t>🔹 📚 **研究**: arxiv, blogwatcher, ml-paper-writing, polymarket...</a:t>
            </a:r>
          </a:p>
          <a:p>
            <a:pPr>
              <a:spcAft>
                <a:spcPts val="1400"/>
              </a:spcAft>
              <a:defRPr sz="1700">
                <a:solidFill>
                  <a:srgbClr val="FFFFFF"/>
                </a:solidFill>
              </a:defRPr>
            </a:pPr>
            <a:r>
              <a:t>🔹 🏠 **智能家居**: openhue (Philips Hue 控制)...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ight Triangle 1"/>
          <p:cNvSpPr/>
          <p:nvPr/>
        </p:nvSpPr>
        <p:spPr>
          <a:xfrm rot="2700000">
            <a:off x="0" y="0"/>
            <a:ext cx="1371600" cy="1371600"/>
          </a:xfrm>
          <a:prstGeom prst="rtTriangle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 rot="2700000">
            <a:off x="91440" y="91440"/>
            <a:ext cx="1188720" cy="1188720"/>
          </a:xfrm>
          <a:prstGeom prst="rect">
            <a:avLst/>
          </a:prstGeom>
          <a:noFill/>
          <a:ln w="19050">
            <a:solidFill>
              <a:srgbClr val="06B6D4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503920" y="6583680"/>
            <a:ext cx="3657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8B5CF6"/>
                </a:solidFill>
              </a:defRPr>
            </a:pPr>
            <a:r>
              <a:t>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74320"/>
            <a:ext cx="6400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800" b="1">
                <a:solidFill>
                  <a:srgbClr val="06B6D4"/>
                </a:solidFill>
              </a:defRPr>
            </a:pPr>
            <a:r>
              <a:t>使用场景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960120"/>
            <a:ext cx="2286000" cy="54864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37160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700">
                <a:solidFill>
                  <a:srgbClr val="FFFFFF"/>
                </a:solidFill>
              </a:defRPr>
            </a:pPr>
            <a:r>
              <a:t>🔹 💼 **工作场景**</a:t>
            </a:r>
            <a:br/>
            <a:r>
              <a:t>   代码审查、Bug 调试、文档编写、数据处理、报告生成</a:t>
            </a:r>
          </a:p>
          <a:p>
            <a:pPr>
              <a:spcAft>
                <a:spcPts val="1400"/>
              </a:spcAft>
              <a:defRPr sz="1700">
                <a:solidFill>
                  <a:srgbClr val="FFFFFF"/>
                </a:solidFill>
              </a:defRPr>
            </a:pPr>
            <a:r>
              <a:t>🔹 🎓 **学习场景**</a:t>
            </a:r>
            <a:br/>
            <a:r>
              <a:t>   论文研究、知识整理、笔记管理、技能学习</a:t>
            </a:r>
          </a:p>
          <a:p>
            <a:pPr>
              <a:spcAft>
                <a:spcPts val="1400"/>
              </a:spcAft>
              <a:defRPr sz="1700">
                <a:solidFill>
                  <a:srgbClr val="FFFFFF"/>
                </a:solidFill>
              </a:defRPr>
            </a:pPr>
            <a:r>
              <a:t>🔹 🏗️ **项目场景**</a:t>
            </a:r>
            <a:br/>
            <a:r>
              <a:t>   项目初始化、CI/CD 配置、自动化部署、监控告警</a:t>
            </a:r>
          </a:p>
          <a:p>
            <a:pPr>
              <a:spcAft>
                <a:spcPts val="1400"/>
              </a:spcAft>
              <a:defRPr sz="1700">
                <a:solidFill>
                  <a:srgbClr val="FFFFFF"/>
                </a:solidFill>
              </a:defRPr>
            </a:pPr>
            <a:r>
              <a:t>🔹 📊 **数据场景**</a:t>
            </a:r>
            <a:br/>
            <a:r>
              <a:t>   数据分析、可视化、报告生成、定时监控</a:t>
            </a:r>
          </a:p>
          <a:p>
            <a:pPr>
              <a:spcAft>
                <a:spcPts val="1400"/>
              </a:spcAft>
              <a:defRPr sz="1700">
                <a:solidFill>
                  <a:srgbClr val="FFFFFF"/>
                </a:solidFill>
              </a:defRPr>
            </a:pPr>
            <a:r>
              <a:t>🔹 🤖 **自动化场景**</a:t>
            </a:r>
            <a:br/>
            <a:r>
              <a:t>   定时任务、Web 自动化、文件批处理、API 集成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ight Triangle 1"/>
          <p:cNvSpPr/>
          <p:nvPr/>
        </p:nvSpPr>
        <p:spPr>
          <a:xfrm rot="2700000">
            <a:off x="0" y="0"/>
            <a:ext cx="1371600" cy="1371600"/>
          </a:xfrm>
          <a:prstGeom prst="rtTriangle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 rot="2700000">
            <a:off x="91440" y="91440"/>
            <a:ext cx="1188720" cy="1188720"/>
          </a:xfrm>
          <a:prstGeom prst="rect">
            <a:avLst/>
          </a:prstGeom>
          <a:noFill/>
          <a:ln w="19050">
            <a:solidFill>
              <a:srgbClr val="06B6D4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ight Triangle 3"/>
          <p:cNvSpPr/>
          <p:nvPr/>
        </p:nvSpPr>
        <p:spPr>
          <a:xfrm rot="18900000">
            <a:off x="7772400" y="0"/>
            <a:ext cx="1371600" cy="1371600"/>
          </a:xfrm>
          <a:prstGeom prst="rtTriangle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18900000">
            <a:off x="7863840" y="91440"/>
            <a:ext cx="1188720" cy="1188720"/>
          </a:xfrm>
          <a:prstGeom prst="rect">
            <a:avLst/>
          </a:prstGeom>
          <a:noFill/>
          <a:ln w="19050">
            <a:solidFill>
              <a:srgbClr val="06B6D4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ight Triangle 5"/>
          <p:cNvSpPr/>
          <p:nvPr/>
        </p:nvSpPr>
        <p:spPr>
          <a:xfrm rot="18900000">
            <a:off x="0" y="5486400"/>
            <a:ext cx="1371600" cy="1371600"/>
          </a:xfrm>
          <a:prstGeom prst="rtTriangle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18900000">
            <a:off x="91440" y="5577840"/>
            <a:ext cx="1188720" cy="1188720"/>
          </a:xfrm>
          <a:prstGeom prst="rect">
            <a:avLst/>
          </a:prstGeom>
          <a:noFill/>
          <a:ln w="19050">
            <a:solidFill>
              <a:srgbClr val="06B6D4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ight Triangle 7"/>
          <p:cNvSpPr/>
          <p:nvPr/>
        </p:nvSpPr>
        <p:spPr>
          <a:xfrm rot="2700000">
            <a:off x="7772400" y="5486400"/>
            <a:ext cx="1371600" cy="1371600"/>
          </a:xfrm>
          <a:prstGeom prst="rtTriangle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7863840" y="5577840"/>
            <a:ext cx="1188720" cy="1188720"/>
          </a:xfrm>
          <a:prstGeom prst="rect">
            <a:avLst/>
          </a:prstGeom>
          <a:noFill/>
          <a:ln w="19050">
            <a:solidFill>
              <a:srgbClr val="06B6D4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280160" y="137160"/>
            <a:ext cx="6583679" cy="6583679"/>
          </a:xfrm>
          <a:prstGeom prst="ellipse">
            <a:avLst/>
          </a:prstGeom>
          <a:noFill/>
          <a:ln w="127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2377440" y="1234440"/>
            <a:ext cx="4389120" cy="4389120"/>
          </a:xfrm>
          <a:prstGeom prst="ellipse">
            <a:avLst/>
          </a:prstGeom>
          <a:noFill/>
          <a:ln w="127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3474720" y="2331720"/>
            <a:ext cx="2194560" cy="2194560"/>
          </a:xfrm>
          <a:prstGeom prst="ellipse">
            <a:avLst/>
          </a:prstGeom>
          <a:noFill/>
          <a:ln w="127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503920" y="6583680"/>
            <a:ext cx="3657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8B5CF6"/>
                </a:solidFill>
              </a:defRPr>
            </a:pPr>
            <a:r>
              <a:t>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200" b="1">
                <a:solidFill>
                  <a:srgbClr val="3B82F6"/>
                </a:solidFill>
              </a:defRPr>
            </a:pPr>
            <a:r>
              <a:t>总结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1828800"/>
            <a:ext cx="7315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600"/>
              </a:spcAft>
              <a:defRPr sz="1800">
                <a:solidFill>
                  <a:srgbClr val="FFFFFF"/>
                </a:solidFill>
              </a:defRPr>
            </a:pPr>
            <a:r>
              <a:t>✨ Hermes Agent 是功能强大的 AI 助手</a:t>
            </a:r>
          </a:p>
          <a:p>
            <a:pPr algn="ctr">
              <a:spcAft>
                <a:spcPts val="1600"/>
              </a:spcAft>
              <a:defRPr sz="1800">
                <a:solidFill>
                  <a:srgbClr val="FFFFFF"/>
                </a:solidFill>
              </a:defRPr>
            </a:pPr>
            <a:r>
              <a:t>🛠️ 76+ 技能覆盖开发、数据、AI、创意等领域</a:t>
            </a:r>
          </a:p>
          <a:p>
            <a:pPr algn="ctr">
              <a:spcAft>
                <a:spcPts val="1600"/>
              </a:spcAft>
              <a:defRPr sz="1800">
                <a:solidFill>
                  <a:srgbClr val="FFFFFF"/>
                </a:solidFill>
              </a:defRPr>
            </a:pPr>
            <a:r>
              <a:t>🔗 深度集成终端、文件、Web、记忆系统</a:t>
            </a:r>
          </a:p>
          <a:p>
            <a:pPr algn="ctr">
              <a:spcAft>
                <a:spcPts val="1600"/>
              </a:spcAft>
              <a:defRPr sz="1800">
                <a:solidFill>
                  <a:srgbClr val="FFFFFF"/>
                </a:solidFill>
              </a:defRPr>
            </a:pPr>
            <a:r>
              <a:t>🚀 支持多 Agent 协作和定时任务</a:t>
            </a:r>
          </a:p>
          <a:p>
            <a:pPr algn="ctr">
              <a:spcAft>
                <a:spcPts val="1600"/>
              </a:spcAft>
              <a:defRPr sz="1800">
                <a:solidFill>
                  <a:srgbClr val="FFFFFF"/>
                </a:solidFill>
              </a:defRPr>
            </a:pPr>
            <a:r>
              <a:t>📱 飞书/ Discord 多平台支持</a:t>
            </a:r>
          </a:p>
          <a:p>
            <a:pPr algn="ctr">
              <a:spcAft>
                <a:spcPts val="1600"/>
              </a:spcAft>
              <a:defRPr sz="1800">
                <a:solidFill>
                  <a:srgbClr val="FFFFFF"/>
                </a:solidFill>
              </a:defRPr>
            </a:pPr>
          </a:p>
          <a:p>
            <a:pPr algn="ctr">
              <a:spcAft>
                <a:spcPts val="1600"/>
              </a:spcAft>
              <a:defRPr sz="1800">
                <a:solidFill>
                  <a:srgbClr val="FFFFFF"/>
                </a:solidFill>
              </a:defRPr>
            </a:pPr>
            <a:r>
              <a:t>🎯 让 AI 真正成为你的工作伙伴！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