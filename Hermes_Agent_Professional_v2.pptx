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097280" cy="109728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8900000">
            <a:off x="8046720" y="0"/>
            <a:ext cx="1097280" cy="109728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8900000">
            <a:off x="0" y="5760720"/>
            <a:ext cx="1097280" cy="109728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2700000">
            <a:off x="8046720" y="5760720"/>
            <a:ext cx="1097280" cy="109728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500000">
            <a:off x="-1828800" y="0"/>
            <a:ext cx="7315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500000">
            <a:off x="457200" y="0"/>
            <a:ext cx="73152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500000">
            <a:off x="2743200" y="0"/>
            <a:ext cx="7315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500000">
            <a:off x="5029200" y="0"/>
            <a:ext cx="73152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500000">
            <a:off x="7315200" y="0"/>
            <a:ext cx="7315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83992" y="570419"/>
            <a:ext cx="70868" cy="7086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240336" y="4780691"/>
            <a:ext cx="107597" cy="107597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57330" y="931779"/>
            <a:ext cx="84300" cy="843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6454" y="1710731"/>
            <a:ext cx="91929" cy="91929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3007" y="1586438"/>
            <a:ext cx="105145" cy="105145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92049" y="1717609"/>
            <a:ext cx="99602" cy="9960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58786" y="436123"/>
            <a:ext cx="119404" cy="11940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72639" y="2449544"/>
            <a:ext cx="59937" cy="59937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7580" y="2430682"/>
            <a:ext cx="54200" cy="54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02674" y="5443905"/>
            <a:ext cx="100924" cy="10092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52166" y="4747057"/>
            <a:ext cx="94752" cy="9475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7454" y="2658957"/>
            <a:ext cx="96198" cy="9619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0611" y="4071176"/>
            <a:ext cx="124514" cy="12451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83622" y="4619938"/>
            <a:ext cx="49910" cy="4991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306203" y="2150698"/>
            <a:ext cx="53016" cy="5301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337406" y="1021943"/>
            <a:ext cx="71137" cy="71137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48844" y="2585831"/>
            <a:ext cx="79569" cy="79569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115675" y="1978325"/>
            <a:ext cx="131367" cy="131367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759587" y="4046946"/>
            <a:ext cx="61368" cy="6136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17413" y="1388190"/>
            <a:ext cx="80417" cy="80417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280160" y="137159"/>
            <a:ext cx="6583680" cy="6583680"/>
          </a:xfrm>
          <a:prstGeom prst="ellipse">
            <a:avLst/>
          </a:prstGeom>
          <a:noFill/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103120" y="960119"/>
            <a:ext cx="4937760" cy="4937760"/>
          </a:xfrm>
          <a:prstGeom prst="ellipse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6080" y="1783080"/>
            <a:ext cx="3291840" cy="3291840"/>
          </a:xfrm>
          <a:prstGeom prst="ellipse">
            <a:avLst/>
          </a:prstGeom>
          <a:noFill/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749039" y="2606040"/>
            <a:ext cx="1645920" cy="1645920"/>
          </a:xfrm>
          <a:prstGeom prst="ellipse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2560320"/>
            <a:ext cx="8229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3B82F6"/>
                </a:solidFill>
              </a:defRPr>
            </a:pPr>
            <a:r>
              <a:t>Hermes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6B6D4"/>
                </a:solidFill>
              </a:defRPr>
            </a:pPr>
            <a:r>
              <a:t>智能 AI 助手 · 由 Nous Research 创建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097280" cy="109728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64922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核心数据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20116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265176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65176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41732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76+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C8DC"/>
                </a:solidFill>
              </a:defRPr>
            </a:pPr>
            <a:r>
              <a:t>专业技能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188720"/>
            <a:ext cx="265176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188720"/>
            <a:ext cx="265176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46304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41732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20+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96596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C8DC"/>
                </a:solidFill>
              </a:defRPr>
            </a:pPr>
            <a:r>
              <a:t>领域覆盖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265176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265176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46304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41732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5CF6"/>
                </a:solidFill>
              </a:defRPr>
            </a:pPr>
            <a:r>
              <a:t>20+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96596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C8DC"/>
                </a:solidFill>
              </a:defRPr>
            </a:pPr>
            <a:r>
              <a:t>内置工具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429000"/>
            <a:ext cx="265176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429000"/>
            <a:ext cx="265176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70332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65760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C55E"/>
                </a:solidFill>
              </a:defRPr>
            </a:pPr>
            <a:r>
              <a:t>10x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C8DC"/>
                </a:solidFill>
              </a:defRPr>
            </a:pPr>
            <a:r>
              <a:t>效率提升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3429000"/>
            <a:ext cx="265176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37560" y="3429000"/>
            <a:ext cx="265176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370332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365760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97316"/>
                </a:solidFill>
              </a:defRPr>
            </a:pPr>
            <a:r>
              <a:t>24/7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20624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C8DC"/>
                </a:solidFill>
              </a:defRPr>
            </a:pPr>
            <a:r>
              <a:t>全天候服务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429000"/>
            <a:ext cx="265176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429000"/>
            <a:ext cx="265176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70332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65760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20624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C8DC"/>
                </a:solidFill>
              </a:defRPr>
            </a:pPr>
            <a:r>
              <a:t>可扩展性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097280" cy="109728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64922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为什么选择 Hermes?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20116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206240" y="274320"/>
            <a:ext cx="731520" cy="7315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051560"/>
            <a:ext cx="9144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Hermes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8C8DC"/>
                </a:solidFill>
              </a:defRPr>
            </a:pPr>
            <a:r>
              <a:t>传统 AI 助手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76+ 专业技能覆盖全领域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20+ 内置工具直接调用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支持代码执行、文件操作、Web 浏览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记忆系统 + 技能系统持久化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支持多 Agent 协作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飞书/ Discord 多平台集成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55448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8C8DC"/>
                </a:solidFill>
              </a:defRPr>
            </a:pPr>
            <a:r>
              <a:t>⚪ 有限的预定义功能</a:t>
            </a:r>
          </a:p>
          <a:p>
            <a:pPr>
              <a:spcAft>
                <a:spcPts val="1000"/>
              </a:spcAft>
              <a:defRPr sz="1300">
                <a:solidFill>
                  <a:srgbClr val="C8C8DC"/>
                </a:solidFill>
              </a:defRPr>
            </a:pPr>
            <a:r>
              <a:t>⚪ 需要外部工具集成</a:t>
            </a:r>
          </a:p>
          <a:p>
            <a:pPr>
              <a:spcAft>
                <a:spcPts val="1000"/>
              </a:spcAft>
              <a:defRPr sz="1300">
                <a:solidFill>
                  <a:srgbClr val="C8C8DC"/>
                </a:solidFill>
              </a:defRPr>
            </a:pPr>
            <a:r>
              <a:t>⚪ 功能相对单一</a:t>
            </a:r>
          </a:p>
          <a:p>
            <a:pPr>
              <a:spcAft>
                <a:spcPts val="1000"/>
              </a:spcAft>
              <a:defRPr sz="1300">
                <a:solidFill>
                  <a:srgbClr val="C8C8DC"/>
                </a:solidFill>
              </a:defRPr>
            </a:pPr>
            <a:r>
              <a:t>⚪ 会话间无记忆</a:t>
            </a:r>
          </a:p>
          <a:p>
            <a:pPr>
              <a:spcAft>
                <a:spcPts val="1000"/>
              </a:spcAft>
              <a:defRPr sz="1300">
                <a:solidFill>
                  <a:srgbClr val="C8C8DC"/>
                </a:solidFill>
              </a:defRPr>
            </a:pPr>
            <a:r>
              <a:t>⚪ 单 Agent 工作</a:t>
            </a:r>
          </a:p>
          <a:p>
            <a:pPr>
              <a:spcAft>
                <a:spcPts val="1000"/>
              </a:spcAft>
              <a:defRPr sz="1300">
                <a:solidFill>
                  <a:srgbClr val="C8C8DC"/>
                </a:solidFill>
              </a:defRPr>
            </a:pPr>
            <a:r>
              <a:t>⚪ 平台支持有限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097280" cy="109728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64922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核心能力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20116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402336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40233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371600"/>
            <a:ext cx="685800" cy="685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9047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17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代码开发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7830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8C8DC"/>
                </a:solidFill>
              </a:defRPr>
            </a:pPr>
            <a:r>
              <a:t>编写、调试、重构代码，支持多语言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143000"/>
            <a:ext cx="402336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09160" y="1143000"/>
            <a:ext cx="40233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983480" y="1371600"/>
            <a:ext cx="685800" cy="6858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49047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1417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信息检索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17830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8C8DC"/>
                </a:solidFill>
              </a:defRPr>
            </a:pPr>
            <a:r>
              <a:t>搜索文件内容、查找代码、分析结构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37560"/>
            <a:ext cx="402336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337560"/>
            <a:ext cx="40233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3566160"/>
            <a:ext cx="685800" cy="6858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68503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61187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Web 操作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977639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8C8DC"/>
                </a:solidFill>
              </a:defRPr>
            </a:pPr>
            <a:r>
              <a:t>浏览网页、抓取数据、自动化任务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3337560"/>
            <a:ext cx="402336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09160" y="3337560"/>
            <a:ext cx="402336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983480" y="3566160"/>
            <a:ext cx="685800" cy="6858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368503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61187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文件管理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977639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8C8DC"/>
                </a:solidFill>
              </a:defRPr>
            </a:pPr>
            <a:r>
              <a:t>读写文件、创建目录、批量处理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532120"/>
            <a:ext cx="402336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532120"/>
            <a:ext cx="402336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5760720"/>
            <a:ext cx="685800" cy="6858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87959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806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Agent 协作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617220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8C8DC"/>
                </a:solidFill>
              </a:defRPr>
            </a:pPr>
            <a:r>
              <a:t>spawn 子 Agent、并行任务、结果聚合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09160" y="5532120"/>
            <a:ext cx="402336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09160" y="5532120"/>
            <a:ext cx="40233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983480" y="5760720"/>
            <a:ext cx="685800" cy="685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587959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5806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定时任务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617220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8C8DC"/>
                </a:solidFill>
              </a:defRPr>
            </a:pPr>
            <a:r>
              <a:t>创建 cron 作业、定时执行、自动推送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097280" cy="109728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64922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系统架构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20116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0" y="2377440"/>
            <a:ext cx="1828800" cy="1828800"/>
          </a:xfrm>
          <a:prstGeom prst="ellipse">
            <a:avLst/>
          </a:prstGeom>
          <a:solidFill>
            <a:srgbClr val="3B82F6"/>
          </a:solidFill>
          <a:ln w="317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Hermes</a:t>
            </a:r>
          </a:p>
          <a:p>
            <a:r>
              <a:t>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17320"/>
            <a:ext cx="274320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终端工具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17320"/>
            <a:ext cx="274320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文件操作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154680"/>
            <a:ext cx="274320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Web 浏览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154680"/>
            <a:ext cx="274320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技能系统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892040"/>
            <a:ext cx="274320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记忆系统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892040"/>
            <a:ext cx="274320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定时任务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097280" cy="109728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64922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76+ 专业技能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20116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🔧 开发工具：github-workflow, code-review, test-driven-development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🤖 AI/ML: huggingface-hub, llm-evaluation, fine-tuning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📊 数据科学：jupyter-live-kernel, data-analysis, visualization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🌐 DevOps: cloud-file-delivery, webhook-subscriptions,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1430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📱 生产力：feishu-drive, google-workspace, notion, powerpoint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🎨 创意：ascii-art, ascii-video, excalidraw, songwriting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📚 研究：arxiv, blogwatcher, ml-paper-writing, polymarket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🏠 智能家居：openhue (Philips Hue 控制)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097280" cy="109728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64922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使用场景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20116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</a:defRPr>
            </a:pPr>
            <a:r>
              <a:t>💼 工作场景：代码审查、Bug 调试、文档编写、数据处理、报告生成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</a:defRPr>
            </a:pPr>
            <a:r>
              <a:t>🎓 学习场景：论文研究、知识整理、笔记管理、技能学习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</a:defRPr>
            </a:pPr>
            <a:r>
              <a:t>🏗️ 项目场景：项目初始化、CI/CD 配置、自动化部署、监控告警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</a:defRPr>
            </a:pPr>
            <a:r>
              <a:t>📊 数据场景：数据分析、可视化、报告生成、定时监控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</a:defRPr>
            </a:pPr>
            <a:r>
              <a:t>🤖 自动化场景：定时任务、Web 自动化、文件批处理、API 集成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097280" cy="109728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8900000">
            <a:off x="8046720" y="0"/>
            <a:ext cx="1097280" cy="109728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8900000">
            <a:off x="0" y="5760720"/>
            <a:ext cx="1097280" cy="109728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2700000">
            <a:off x="8046720" y="5760720"/>
            <a:ext cx="1097280" cy="109728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137160"/>
            <a:ext cx="6583679" cy="6583679"/>
          </a:xfrm>
          <a:prstGeom prst="ellipse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77440" y="1234440"/>
            <a:ext cx="4389120" cy="4389120"/>
          </a:xfrm>
          <a:prstGeom prst="ellipse">
            <a:avLst/>
          </a:prstGeom>
          <a:noFill/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74720" y="2331720"/>
            <a:ext cx="2194560" cy="2194560"/>
          </a:xfrm>
          <a:prstGeom prst="ellipse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64922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</a:defRPr>
            </a:pPr>
            <a:r>
              <a:t>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✨ Hermes Agent 是功能强大的 AI 助手</a:t>
            </a:r>
          </a:p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🛠️ 76+ 技能覆盖开发、数据、AI、创意等领域</a:t>
            </a:r>
          </a:p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🔗 深度集成终端、文件、Web、记忆系统</a:t>
            </a:r>
          </a:p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🚀 支持多 Agent 协作和定时任务</a:t>
            </a:r>
          </a:p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📱 飞书/ Discord 多平台支持</a:t>
            </a:r>
          </a:p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</a:p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🎯 让 AI 真正成为你的工作伙伴！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