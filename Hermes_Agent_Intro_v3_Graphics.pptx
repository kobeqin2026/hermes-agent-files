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88720" cy="1188720"/>
          </a:xfrm>
          <a:prstGeom prst="rect">
            <a:avLst/>
          </a:prstGeom>
          <a:noFill/>
          <a:ln w="2540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8100000">
            <a:off x="7772400" y="0"/>
            <a:ext cx="1371600" cy="1371600"/>
          </a:xfrm>
          <a:prstGeom prst="rtTriangl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3500000">
            <a:off x="0" y="5486400"/>
            <a:ext cx="1371600" cy="13716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7772400" y="548640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77439" y="1234439"/>
            <a:ext cx="4389120" cy="438912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08960" y="1965960"/>
            <a:ext cx="2926080" cy="292608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0" y="2697480"/>
            <a:ext cx="1463040" cy="146304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06B6D4"/>
                </a:solidFill>
              </a:defRPr>
            </a:pPr>
            <a:r>
              <a:t>智能 AI 助手 · 由 Nous Research 创建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8100000">
            <a:off x="7772400" y="0"/>
            <a:ext cx="1371600" cy="1371600"/>
          </a:xfrm>
          <a:prstGeom prst="rtTriangl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3500000">
            <a:off x="0" y="5486400"/>
            <a:ext cx="1371600" cy="13716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Hermes Agent 核心数据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931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3716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76+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专业技能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188720"/>
            <a:ext cx="3931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188720"/>
            <a:ext cx="13716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4630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领域覆盖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560320"/>
            <a:ext cx="3931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13716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34639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20+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内置工具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560320"/>
            <a:ext cx="3931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2560320"/>
            <a:ext cx="137160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834639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C55E"/>
                </a:solidFill>
              </a:defRPr>
            </a:pPr>
            <a:r>
              <a:t>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04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平台支持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31920"/>
            <a:ext cx="3931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137160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06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114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572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持久记忆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3931920"/>
            <a:ext cx="3931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0" y="3931920"/>
            <a:ext cx="13716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206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114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24/7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572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DC"/>
                </a:solidFill>
              </a:defRPr>
            </a:pPr>
            <a:r>
              <a:t>自动任务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88720" cy="1188720"/>
          </a:xfrm>
          <a:prstGeom prst="rect">
            <a:avLst/>
          </a:prstGeom>
          <a:noFill/>
          <a:ln w="2540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7772400" y="548640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Hermes Agent vs OpenClaw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22860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16459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188720"/>
            <a:ext cx="91440" cy="502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393192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Hermes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188720"/>
            <a:ext cx="39319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C8C8DC"/>
                </a:solidFill>
              </a:defRPr>
            </a:pPr>
            <a:r>
              <a:t>🔷 OpenClaw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76+ 专业技能，覆盖 20 个领域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持久记忆系统（memory/ + MEMORY.md）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支持多平台（Discord、Telegram、飞书等）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内置 20+ 工具（终端、文件、浏览器等）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支持子代理并行任务处理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定时任务（cron）自动执行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技能系统可加载 SKILL.md 定义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✅ 支持网页浏览和截图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288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🔷 基础 AI 助手功能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🔷 工作区管理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🔷 GPU 任务追踪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🔷 上下文清理工具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🔷 知识库同步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🔷 GitHub 集成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🔷 有限的技能扩展</a:t>
            </a:r>
          </a:p>
          <a:p>
            <a:pPr>
              <a:spcAft>
                <a:spcPts val="600"/>
              </a:spcAft>
              <a:defRPr sz="1200">
                <a:solidFill>
                  <a:srgbClr val="C8C8DC"/>
                </a:solidFill>
              </a:defRPr>
            </a:pPr>
            <a:r>
              <a:t>🔷 单一平台支持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88720" cy="1188720"/>
          </a:xfrm>
          <a:prstGeom prst="rect">
            <a:avLst/>
          </a:prstGeom>
          <a:noFill/>
          <a:ln w="2540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7772400" y="548640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核心能力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93192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50876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54480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FFFFFF"/>
                </a:solidFill>
              </a:defRPr>
            </a:pPr>
            <a:r>
              <a:t>代码编写</a:t>
            </a:r>
          </a:p>
          <a:p>
            <a:pPr>
              <a:spcAft>
                <a:spcPts val="400"/>
              </a:spcAft>
              <a:defRPr sz="1300">
                <a:solidFill>
                  <a:srgbClr val="C8C8DC"/>
                </a:solidFill>
              </a:defRPr>
            </a:pPr>
            <a:r>
              <a:t>Python、JavaScript、Shell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188720"/>
            <a:ext cx="393192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74920" y="150876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691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FFFFFF"/>
                </a:solidFill>
              </a:defRPr>
            </a:pPr>
            <a:r>
              <a:t>文件操作</a:t>
            </a:r>
          </a:p>
          <a:p>
            <a:pPr>
              <a:spcAft>
                <a:spcPts val="400"/>
              </a:spcAft>
              <a:defRPr sz="1300">
                <a:solidFill>
                  <a:srgbClr val="C8C8DC"/>
                </a:solidFill>
              </a:defRPr>
            </a:pPr>
            <a:r>
              <a:t>读取、写入、搜索、编辑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39319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251959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348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97680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FFFFFF"/>
                </a:solidFill>
              </a:defRPr>
            </a:pPr>
            <a:r>
              <a:t>网页交互</a:t>
            </a:r>
          </a:p>
          <a:p>
            <a:pPr>
              <a:spcAft>
                <a:spcPts val="400"/>
              </a:spcAft>
              <a:defRPr sz="1300">
                <a:solidFill>
                  <a:srgbClr val="C8C8DC"/>
                </a:solidFill>
              </a:defRPr>
            </a:pPr>
            <a:r>
              <a:t>浏览、点击、表单、截图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9319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3931920"/>
            <a:ext cx="39319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74920" y="4251959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44348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97680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FFFFFF"/>
                </a:solidFill>
              </a:defRPr>
            </a:pPr>
            <a:r>
              <a:t>终端命令</a:t>
            </a:r>
          </a:p>
          <a:p>
            <a:pPr>
              <a:spcAft>
                <a:spcPts val="400"/>
              </a:spcAft>
              <a:defRPr sz="1300">
                <a:solidFill>
                  <a:srgbClr val="C8C8DC"/>
                </a:solidFill>
              </a:defRPr>
            </a:pPr>
            <a:r>
              <a:t>Shell 命令、进程管理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88720" cy="1188720"/>
          </a:xfrm>
          <a:prstGeom prst="rect">
            <a:avLst/>
          </a:prstGeom>
          <a:noFill/>
          <a:ln w="2540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7772400" y="548640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5CF6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技能类别概览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8229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7863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🔹  🤖 自主 AI 代理 - Claude Code、Codex、OpenCode 等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🔸  💻 软件开发 - 代码审查、调试、TDD、计划模式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🔶  🧠 MLOps - 模型微调、量化、评估、部署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🔷  📊 数据科学 - Jupyter 内核、数据分析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🔹  🎨 创意 - ASCII 艺术、图表、音乐生成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🔸  📝 生产力 - Google Workspace、Notion、PDF/PPT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🔶  🔬 研究 - arXiv 论文、博客监控、预测市场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🔷  🌐 中文技能 - 高德地图、股票监控、二次元推荐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88720" cy="1188720"/>
          </a:xfrm>
          <a:prstGeom prst="rect">
            <a:avLst/>
          </a:prstGeom>
          <a:noFill/>
          <a:ln w="2540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8100000">
            <a:off x="7772400" y="0"/>
            <a:ext cx="1371600" cy="1371600"/>
          </a:xfrm>
          <a:prstGeom prst="rtTriangl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5CF6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技术架构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0" y="2514600"/>
            <a:ext cx="1828800" cy="18288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Hermes</a:t>
            </a:r>
          </a:p>
          <a:p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工具系统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技能框架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记忆系统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0040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会话管理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平台集成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029200"/>
            <a:ext cx="27432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模型路由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88720" cy="1188720"/>
          </a:xfrm>
          <a:prstGeom prst="rect">
            <a:avLst/>
          </a:prstGeom>
          <a:noFill/>
          <a:ln w="2540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7772400" y="548640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B5CF6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93192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50876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54480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FFFFFF"/>
                </a:solidFill>
              </a:defRPr>
            </a:pPr>
            <a:r>
              <a:t>软件开发</a:t>
            </a:r>
          </a:p>
          <a:p>
            <a:pPr>
              <a:spcAft>
                <a:spcPts val="400"/>
              </a:spcAft>
              <a:defRPr sz="1300">
                <a:solidFill>
                  <a:srgbClr val="C8C8DC"/>
                </a:solidFill>
              </a:defRPr>
            </a:pPr>
            <a:r>
              <a:t>代码、调试、审查、PR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188720"/>
            <a:ext cx="393192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74920" y="150876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691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FFFFFF"/>
                </a:solidFill>
              </a:defRPr>
            </a:pPr>
            <a:r>
              <a:t>数据分析</a:t>
            </a:r>
          </a:p>
          <a:p>
            <a:pPr>
              <a:spcAft>
                <a:spcPts val="400"/>
              </a:spcAft>
              <a:defRPr sz="1300">
                <a:solidFill>
                  <a:srgbClr val="C8C8DC"/>
                </a:solidFill>
              </a:defRPr>
            </a:pPr>
            <a:r>
              <a:t>探索、可视化、报告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39319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251959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348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97680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FFFFFF"/>
                </a:solidFill>
              </a:defRPr>
            </a:pPr>
            <a:r>
              <a:t>内容创作</a:t>
            </a:r>
          </a:p>
          <a:p>
            <a:pPr>
              <a:spcAft>
                <a:spcPts val="400"/>
              </a:spcAft>
              <a:defRPr sz="1300">
                <a:solidFill>
                  <a:srgbClr val="C8C8DC"/>
                </a:solidFill>
              </a:defRPr>
            </a:pPr>
            <a:r>
              <a:t>文章、PPT、翻译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931920"/>
            <a:ext cx="39319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3931920"/>
            <a:ext cx="39319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74920" y="4251959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44348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97680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600">
                <a:solidFill>
                  <a:srgbClr val="FFFFFF"/>
                </a:solidFill>
              </a:defRPr>
            </a:pPr>
            <a:r>
              <a:t>研究辅助</a:t>
            </a:r>
          </a:p>
          <a:p>
            <a:pPr>
              <a:spcAft>
                <a:spcPts val="400"/>
              </a:spcAft>
              <a:defRPr sz="1300">
                <a:solidFill>
                  <a:srgbClr val="C8C8DC"/>
                </a:solidFill>
              </a:defRPr>
            </a:pPr>
            <a:r>
              <a:t>文献、整理、摘要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-685800"/>
            <a:ext cx="8229600" cy="822960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" y="137159"/>
            <a:ext cx="6583680" cy="658368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03120" y="960119"/>
            <a:ext cx="4937760" cy="493776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6080" y="1783080"/>
            <a:ext cx="3291840" cy="329184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49039" y="2606040"/>
            <a:ext cx="1645920" cy="1645920"/>
          </a:xfrm>
          <a:prstGeom prst="ellipse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2700000">
            <a:off x="0" y="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91440"/>
            <a:ext cx="1188720" cy="1188720"/>
          </a:xfrm>
          <a:prstGeom prst="rect">
            <a:avLst/>
          </a:prstGeom>
          <a:noFill/>
          <a:ln w="25400">
            <a:solidFill>
              <a:srgbClr val="06B6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Triangle 8"/>
          <p:cNvSpPr/>
          <p:nvPr/>
        </p:nvSpPr>
        <p:spPr>
          <a:xfrm rot="8100000">
            <a:off x="7772400" y="0"/>
            <a:ext cx="1371600" cy="1371600"/>
          </a:xfrm>
          <a:prstGeom prst="rtTriangl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 rot="13500000">
            <a:off x="0" y="5486400"/>
            <a:ext cx="1371600" cy="13716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 rot="18900000">
            <a:off x="7772400" y="5486400"/>
            <a:ext cx="1371600" cy="13716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B82F6"/>
                </a:solidFill>
              </a:defRPr>
            </a:pPr>
            <a:r>
              <a:t>开始使用 Hermes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智能 · 高效 · 无限可能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0">
                <a:solidFill>
                  <a:srgbClr val="FFFFFF"/>
                </a:solidFill>
              </a:defRPr>
            </a:pPr>
            <a:r>
              <a:t>Hermes Agent 是你的智能工作伙伴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22C55E"/>
                </a:solidFill>
              </a:defRPr>
            </a:pPr>
            <a:r>
              <a:t>76+ 技能 · 20+ 工具 · 无限可能</a:t>
            </a:r>
          </a:p>
          <a:p>
            <a:pPr algn="ctr">
              <a:spcAft>
                <a:spcPts val="1200"/>
              </a:spcAft>
              <a:defRPr sz="22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1200"/>
              </a:spcAft>
              <a:defRPr sz="2200" b="0">
                <a:solidFill>
                  <a:srgbClr val="FFFFFF"/>
                </a:solidFill>
              </a:defRPr>
            </a:pPr>
            <a:r>
              <a:t>有什么我可以帮你的吗？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